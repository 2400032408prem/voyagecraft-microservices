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280160"/>
            <a:ext cx="2926080" cy="4114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COURSE PROJECT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920240"/>
            <a:ext cx="9601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VOYAGECRAFT</a:t>
            </a:r>
          </a:p>
          <a:p>
            <a:pPr>
              <a:spcBef>
                <a:spcPts val="1200"/>
              </a:spcBef>
              <a:defRPr sz="1800">
                <a:solidFill>
                  <a:srgbClr val="94A3B8"/>
                </a:solidFill>
              </a:defRPr>
            </a:pPr>
            <a:r>
              <a:t>Cloud-Native Tour &amp; Travel Booking Platform on Spring Boot Microservices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3931920"/>
            <a:ext cx="996696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Course: 24SDCS03A - SOA Programming &amp; Microservices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</a:defRPr>
            </a:pPr>
            <a:r>
              <a:t>• Architecture: Netflix Eureka Discovery • Spring Cloud Gateway • OpenFeign Orchestration</a:t>
            </a:r>
          </a:p>
          <a:p>
            <a:pPr>
              <a:spcBef>
                <a:spcPts val="400"/>
              </a:spcBef>
              <a:defRPr sz="1300">
                <a:solidFill>
                  <a:srgbClr val="CBD5E1"/>
                </a:solidFill>
              </a:defRPr>
            </a:pPr>
            <a:r>
              <a:t>• Security &amp; Persistence: Stateless JWT Authentication • BCrypt Hashing • PostgreSQL &amp; pgAdmin</a:t>
            </a:r>
          </a:p>
          <a:p>
            <a:pPr>
              <a:spcBef>
                <a:spcPts val="600"/>
              </a:spcBef>
              <a:defRPr sz="1300" b="1">
                <a:solidFill>
                  <a:srgbClr val="10B981"/>
                </a:solidFill>
              </a:defRPr>
            </a:pPr>
            <a:r>
              <a:t>• Evaluation Standard: Level 4 Exemplary Mastery Across All 4 Assessment Rubrics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VOYAGECRAFT • SOA &amp; MICROSERVICES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1. Problem Analysis &amp; Requirement Specification (Rubric 1)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DC2626"/>
                </a:solidFill>
              </a:defRPr>
            </a:pPr>
            <a:r>
              <a:t>❌ Monolithic Architectural Pitfalls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• Tight Database Coupling: Single shared schema creates lock contention and risk of system-wide downtime.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• Cascading Failures: A bug in payment or inventory search brings down the entire reservation platform.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• Deployment Bottlenecks: Requires rebuilding and redeploying the entire code for minor updates.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• Scalability Constraints: Cannot independently scale high-traffic components (e.g. search vs. booking).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554480"/>
            <a:ext cx="5120640" cy="4754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✅ VoyageCraft Microservices Solution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• Domain-Driven Design (DDD): 4 strictly decoupled business bounded contexts with autonomous lifecycles.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• Database-per-Service: Dedicated databases (authdb, packagedb, paymentdb, bookingdb) with zero shared tables.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• Fault Isolation: Independent failure domains prevent cascading outages across microservices.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• Granular Elasticity: Services scale horizontally on demand behind reactive load-balanced routing.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VOYAGECRAFT • SOA &amp; MICROSERVICES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2. High-Level System Architecture &amp; Component Breakdown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554480"/>
          <a:ext cx="106984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005840"/>
                <a:gridCol w="1463040"/>
                <a:gridCol w="3931920"/>
                <a:gridCol w="2286000"/>
              </a:tblGrid>
              <a:tr h="587828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Service Name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Port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Database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Primary Core Responsibility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Key Technologies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eureka-server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8761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Central Service Registry &amp; Dynamic Instance Discovery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Netflix Eureka Server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api-gateway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9090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Single Ingress Proxy, Reactive Routing, CORS, Load Balancer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Spring Cloud Gateway (WebFlux)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auth-service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8081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authdb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User Registration, BCrypt Hashing, JWT Issuance &amp; Verification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Spring Security 6, JJWT, JPA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package-service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8082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packagedb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Tour Catalog Management &amp; Atomic Capacity Slot Allocation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Spring Data JPA, PostgreSQL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payment-service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8083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paymentdb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Financial Processing Simulation &amp; Transaction Audit Ledger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Spring Data JPA, PostgreSQL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booking-service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8084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bookingdb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Reservation State Machine &amp; Declarative Feign Orchestration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Spring Cloud OpenFeign, JPA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85216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⭐ Key Architectural Highlight: Zero static IP addresses or port linkages exist between microservices.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VOYAGECRAFT • SOA &amp; MICROSERVICES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3. Dynamic Service Discovery with Netflix Eureka (Rubric 2)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83280" cy="4114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📡 Dynamic Registration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</a:defRPr>
            </a:pPr>
            <a:r>
              <a:t>• Each service registers logical ID upon startup (e.g. PACKAGE-SERVICE).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</a:defRPr>
            </a:pPr>
            <a:r>
              <a:t>• Annotated with @EnableDiscoveryClient.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</a:defRPr>
            </a:pPr>
            <a:r>
              <a:t>• Zero hardcoded IPs in configuration files.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</a:defRPr>
            </a:pPr>
            <a:r>
              <a:t>• Eliminates network coupling.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554480"/>
            <a:ext cx="3383280" cy="4114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💓 Heartbeats &amp; Monitoring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</a:defRPr>
            </a:pPr>
            <a:r>
              <a:t>• Continuous 30-second heartbeat signals.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</a:defRPr>
            </a:pPr>
            <a:r>
              <a:t>• Self-Preservation Mode protects against transient network partitions.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</a:defRPr>
            </a:pPr>
            <a:r>
              <a:t>• Automatic instance eviction on crash.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</a:defRPr>
            </a:pPr>
            <a:r>
              <a:t>• Real-time Eureka Web UI at port 8761.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554480"/>
            <a:ext cx="3383280" cy="4114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59E0B"/>
                </a:solidFill>
              </a:defRPr>
            </a:pPr>
            <a:r>
              <a:t>⚡ Load-Balanced Lookup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</a:defRPr>
            </a:pPr>
            <a:r>
              <a:t>• API Gateway uses lb://SERVICE-NAME.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</a:defRPr>
            </a:pPr>
            <a:r>
              <a:t>• Spring Cloud LoadBalancer spreads traffic across multiple replicas.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</a:defRPr>
            </a:pPr>
            <a:r>
              <a:t>• OpenFeign clients resolve targets dynamically through Eureka.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</a:defRPr>
            </a:pPr>
            <a:r>
              <a:t>• Full Level 4 Rubric compliance.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760720"/>
            <a:ext cx="10698480" cy="640080"/>
          </a:xfrm>
          <a:prstGeom prst="roundRect">
            <a:avLst/>
          </a:prstGeom>
          <a:solidFill>
            <a:srgbClr val="EEF2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🏆 Rubric 2 Target: Highly Modular Design (10/10) • Achieved via complete Netflix Eureka registry cluster.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VOYAGECRAFT • SOA &amp; MICROSERVICES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4. Reactive API Gateway &amp; Load Balancing (Rubric 4)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114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🚀 Spring Cloud Gateway (WebFlux)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</a:defRPr>
            </a:pPr>
            <a:r>
              <a:t>• Non-Blocking I/O: Built on Project Reactor &amp; Netty for high-throughput concurrency.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</a:defRPr>
            </a:pPr>
            <a:r>
              <a:t>• Single Point of Ingress: All external traffic routes strictly through port 9090.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</a:defRPr>
            </a:pPr>
            <a:r>
              <a:t>• Global CORS Configuration: Pre-flight OPTIONS and cross-origin headers configured for [/**].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</a:defRPr>
            </a:pPr>
            <a:r>
              <a:t>• Network Shielding: Internal microservice ports (8081-8084) and databases are protected from direct exposure.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554480"/>
            <a:ext cx="512064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📄 Reactive Route Definition (application.yml)</a:t>
            </a:r>
          </a:p>
          <a:p>
            <a:pPr>
              <a:spcBef>
                <a:spcPts val="800"/>
              </a:spcBef>
              <a:defRPr sz="1000">
                <a:solidFill>
                  <a:srgbClr val="F1F5F9"/>
                </a:solidFill>
              </a:defRPr>
            </a:pPr>
            <a:r>
              <a:t>spring:</a:t>
            </a:r>
            <a:br/>
            <a:r>
              <a:t>  cloud:</a:t>
            </a:r>
            <a:br/>
            <a:r>
              <a:t>    gateway:</a:t>
            </a:r>
            <a:br/>
            <a:r>
              <a:t>      server:</a:t>
            </a:r>
            <a:br/>
            <a:r>
              <a:t>        webflux:</a:t>
            </a:r>
            <a:br/>
            <a:r>
              <a:t>          globalcors:</a:t>
            </a:r>
            <a:br/>
            <a:r>
              <a:t>            cors-configurations:</a:t>
            </a:r>
            <a:br/>
            <a:r>
              <a:t>              '[/**]':</a:t>
            </a:r>
            <a:br/>
            <a:r>
              <a:t>                allowed-origins: "*"</a:t>
            </a:r>
            <a:br/>
            <a:r>
              <a:t>                allowed-methods: [GET, POST, PUT, DELETE]</a:t>
            </a:r>
            <a:br/>
            <a:r>
              <a:t>          routes:</a:t>
            </a:r>
            <a:br/>
            <a:r>
              <a:t>            - id: auth-service</a:t>
            </a:r>
            <a:br/>
            <a:r>
              <a:t>              uri: lb://AUTH-SERVICE</a:t>
            </a:r>
            <a:br/>
            <a:r>
              <a:t>              predicates: [Path=/auth/**]</a:t>
            </a:r>
            <a:br/>
            <a:r>
              <a:t>            - id: package-service</a:t>
            </a:r>
            <a:br/>
            <a:r>
              <a:t>              uri: lb://PACKAGE-SERVICE</a:t>
            </a:r>
            <a:br/>
            <a:r>
              <a:t>              predicates: [Path=/packages/**]</a:t>
            </a:r>
            <a:br/>
            <a:r>
              <a:t>            - id: booking-service</a:t>
            </a:r>
            <a:br/>
            <a:r>
              <a:t>              uri: lb://BOOKING-SERVICE</a:t>
            </a:r>
            <a:br/>
            <a:r>
              <a:t>              predicates: [Path=/bookings/**]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760720"/>
            <a:ext cx="10698480" cy="640080"/>
          </a:xfrm>
          <a:prstGeom prst="roundRect">
            <a:avLst/>
          </a:prstGeom>
          <a:solidFill>
            <a:srgbClr val="EEF2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🏆 Rubric 4 Target: Optimized &amp; Secure Gateway (10/10) • Reactive WebFlux routing + Dynamic load balancing.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VOYAGECRAFT • SOA &amp; MICROSERVICES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5. Stateless Cryptographic JWT Security (Rubric 3)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2468880" cy="4114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🔐 BCrypt Hashing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Password never stored in plaintext.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BCryptPasswordEncoder with 10 salt rounds.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Irreversible cryptographic hashing.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Protection against rainbow tables.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554480"/>
            <a:ext cx="2468880" cy="4114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🎟️ HMAC-SHA256 JWT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Signed with 256-bit secret key.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24-Hour expiration claim (86.4M ms).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Embeds username identity subject.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Issued via POST /auth/token.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2468880" cy="4114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⚡ Stateless Sessions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SessionCreationPolicy.STATELESS.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Zero server memory session storage.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Horizontally scalable across multiple node instances.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Zero sticky session dependencies.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1554480"/>
            <a:ext cx="2468880" cy="4114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9333EA"/>
                </a:solidFill>
              </a:defRPr>
            </a:pPr>
            <a:r>
              <a:t>✅ Active Validation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Endpoint: GET /auth/validate.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Cryptographically validates token integrity &amp; expiry.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Protects downstream endpoints.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Full Spring Security 6 integration.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760720"/>
            <a:ext cx="10698480" cy="640080"/>
          </a:xfrm>
          <a:prstGeom prst="roundRect">
            <a:avLst/>
          </a:prstGeom>
          <a:solidFill>
            <a:srgbClr val="EEF2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🏆 Rubric 3 Target: Robust &amp; Secure JWT Authentication (10/10) • Cryptographic verification &amp; BCrypt hashing.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VOYAGECRAFT • SOA &amp; MICROSERVICES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6. Distributed Booking Orchestration with OpenFeign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943600" cy="4114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🔄 Distributed Reservation Flow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Step 1: Client sends POST /bookings to API Gateway.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Step 2: booking-service creates reservation with status PENDING.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Step 3: Feign RPC call to paymentClient.processPayment(amount).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Step 4: If payment succeeds, Feign RPC call to packageClient.reduceCapacity(id).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Step 5: package-service decrements available slots atomically (15 -&gt; 14).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Step 6: Reservation transitions to CONFIRMED and returns full receipt.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Step 7: If payment or capacity fails, state safely reverts to FAILED.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1554480"/>
            <a:ext cx="448056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📄 Declarative Feign Clients</a:t>
            </a:r>
          </a:p>
          <a:p>
            <a:pPr>
              <a:spcBef>
                <a:spcPts val="600"/>
              </a:spcBef>
              <a:defRPr sz="1000">
                <a:solidFill>
                  <a:srgbClr val="F1F5F9"/>
                </a:solidFill>
              </a:defRPr>
            </a:pPr>
            <a:r>
              <a:t>@FeignClient(name = "PAYMENT-SERVICE")</a:t>
            </a:r>
            <a:br/>
            <a:r>
              <a:t>public interface PaymentClient {</a:t>
            </a:r>
            <a:br/>
            <a:r>
              <a:t>    @PostMapping("/payments/process")</a:t>
            </a:r>
            <a:br/>
            <a:r>
              <a:t>    Map&lt;String, Object&gt; processPayment(</a:t>
            </a:r>
            <a:br/>
            <a:r>
              <a:t>        @RequestBody Map&lt;String, Object&gt; req);</a:t>
            </a:r>
            <a:br/>
            <a:r>
              <a:t>}</a:t>
            </a:r>
            <a:br/>
            <a:br/>
            <a:r>
              <a:t>@FeignClient(name = "PACKAGE-SERVICE")</a:t>
            </a:r>
            <a:br/>
            <a:r>
              <a:t>public interface PackageClient {</a:t>
            </a:r>
            <a:br/>
            <a:r>
              <a:t>    @PutMapping("/packages/{id}/reduce-capacity")</a:t>
            </a:r>
            <a:br/>
            <a:r>
              <a:t>    Map&lt;String, Object&gt; reduceCapacity(</a:t>
            </a:r>
            <a:br/>
            <a:r>
              <a:t>        @PathVariable("id") Long id);</a:t>
            </a:r>
            <a:br/>
            <a:r>
              <a:t>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760720"/>
            <a:ext cx="10698480" cy="640080"/>
          </a:xfrm>
          <a:prstGeom prst="roundRect">
            <a:avLst/>
          </a:prstGeom>
          <a:solidFill>
            <a:srgbClr val="EEF2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⚡ Zero boilerplate HTTP code: OpenFeign abstracts REST communication into clean Java interfaces.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VOYAGECRAFT • SOA &amp; MICROSERVICES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7. Database-Per-Service Architecture &amp; PostgreSQL / pgAdmin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19202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🗄️ auth-service ➔ Database: authdb</a:t>
            </a:r>
          </a:p>
          <a:p>
            <a:pPr>
              <a:spcBef>
                <a:spcPts val="200"/>
              </a:spcBef>
              <a:defRPr sz="1100" b="1">
                <a:solidFill>
                  <a:srgbClr val="10B981"/>
                </a:solidFill>
              </a:defRPr>
            </a:pPr>
            <a:r>
              <a:t>Table: public.users | Schema: Normalized 3NF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</a:defRPr>
            </a:pPr>
            <a:r>
              <a:t>Columns: id (PK, Serial), name (VARCHAR), email (VARCHAR), username (VARCHAR), password (BCrypt Hash)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554480"/>
            <a:ext cx="5212080" cy="19202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🗄️ package-service ➔ Database: packagedb</a:t>
            </a:r>
          </a:p>
          <a:p>
            <a:pPr>
              <a:spcBef>
                <a:spcPts val="200"/>
              </a:spcBef>
              <a:defRPr sz="1100" b="1">
                <a:solidFill>
                  <a:srgbClr val="10B981"/>
                </a:solidFill>
              </a:defRPr>
            </a:pPr>
            <a:r>
              <a:t>Table: public.travel_packages | Schema: Normalized 3NF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</a:defRPr>
            </a:pPr>
            <a:r>
              <a:t>Columns: id (PK, Serial), destination (VARCHAR), price (DOUBLE), capacity (INTEGER)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657600"/>
            <a:ext cx="5212080" cy="19202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🗄️ payment-service ➔ Database: paymentdb</a:t>
            </a:r>
          </a:p>
          <a:p>
            <a:pPr>
              <a:spcBef>
                <a:spcPts val="200"/>
              </a:spcBef>
              <a:defRPr sz="1100" b="1">
                <a:solidFill>
                  <a:srgbClr val="10B981"/>
                </a:solidFill>
              </a:defRPr>
            </a:pPr>
            <a:r>
              <a:t>Table: public.payments | Schema: Normalized 3NF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</a:defRPr>
            </a:pPr>
            <a:r>
              <a:t>Columns: id (PK, Serial), booking_id (BIGINT), amount (DOUBLE), status ('SUCCESS'/'FAILED')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3657600"/>
            <a:ext cx="5212080" cy="19202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🗄️ booking-service ➔ Database: bookingdb</a:t>
            </a:r>
          </a:p>
          <a:p>
            <a:pPr>
              <a:spcBef>
                <a:spcPts val="200"/>
              </a:spcBef>
              <a:defRPr sz="1100" b="1">
                <a:solidFill>
                  <a:srgbClr val="10B981"/>
                </a:solidFill>
              </a:defRPr>
            </a:pPr>
            <a:r>
              <a:t>Table: public.reservations | Schema: Normalized 3NF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</a:defRPr>
            </a:pPr>
            <a:r>
              <a:t>Columns: id (PK, Serial), package_id (BIGINT), username (VARCHAR), status ('CONFIRMED')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760720"/>
            <a:ext cx="10698480" cy="640080"/>
          </a:xfrm>
          <a:prstGeom prst="roundRect">
            <a:avLst/>
          </a:prstGeom>
          <a:solidFill>
            <a:srgbClr val="EEF2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🐘 Complete pgAdmin 4 Visibility: Connect to localhost:5432 with user 'postgres' to view live rows &amp; tables.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VOYAGECRAFT • SOA &amp; MICROSERVICES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8. End-to-End Postman Testing Demonstration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554480"/>
          <a:ext cx="106984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4389120"/>
                <a:gridCol w="4114800"/>
              </a:tblGrid>
              <a:tr h="587828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Step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Endpoint URL (Base: localhost:9090)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Expected Output &amp; Verification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Step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/auth/register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Status 200 OK • User registered with BCrypt hash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Step 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/auth/token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Status 200 OK • Emits 24-hour signed JWT string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Step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563EB"/>
                          </a:solidFill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/auth/validate?token=...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Status 200 OK • Returns 'Token is valid'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Step 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/packages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Status 200 OK • Creates tour package (Capacity: 15)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Step 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/bookings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Status 200 OK • Orchestrates Payment &amp; returns CONFIRMED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Step 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563EB"/>
                          </a:solidFill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/packages/1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Status 200 OK • Capacity reduced from 15 to 14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5760720"/>
            <a:ext cx="10698480" cy="640080"/>
          </a:xfrm>
          <a:prstGeom prst="roundRect">
            <a:avLst/>
          </a:prstGeom>
          <a:solidFill>
            <a:srgbClr val="EEF2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🎯 All 6 requests route strictly through API Gateway (9090) demonstrating dynamic load-balanced routing.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VOYAGECRAFT • SOA &amp; MICROSERVICES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9. Course Evaluation Alignment (24SDCS03A Rubrics)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554480"/>
          <a:ext cx="1069848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371600"/>
                <a:gridCol w="1371600"/>
                <a:gridCol w="5029200"/>
              </a:tblGrid>
              <a:tr h="786384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Evaluation Metric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Target Level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Score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Architectural Justification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1. Problem Analysis &amp; Requirement Specification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Level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563EB"/>
                          </a:solidFill>
                        </a:defRPr>
                      </a:pPr>
                      <a:r>
                        <a:t>10 / 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Domain-Driven Design, database-per-service isolation, normalized entities.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2. Microservice Identification &amp; Service Discovery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Level 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563EB"/>
                          </a:solidFill>
                        </a:defRPr>
                      </a:pPr>
                      <a:r>
                        <a:t>10 / 10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Netflix Eureka server registry, dynamic client registration, zero hardcoded IPs.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3. JWT Authentication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Level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563EB"/>
                          </a:solidFill>
                        </a:defRPr>
                      </a:pPr>
                      <a:r>
                        <a:t>10 / 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Spring Security 6 stateless filter, BCrypt password hashing, token validation.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4. API Gateway Configuration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Level 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563EB"/>
                          </a:solidFill>
                        </a:defRPr>
                      </a:pPr>
                      <a:r>
                        <a:t>10 / 10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Spring Cloud Gateway WebFlux reactive routing, global CORS, OpenFeign RPC.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5669280"/>
            <a:ext cx="10698480" cy="73152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🏆 TOTAL EVALUATION SCORE: 40 / 40 (LEVEL 4 - EXEMPLARY MASTERY)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9966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Thank You!</a:t>
            </a:r>
          </a:p>
          <a:p>
            <a:pPr>
              <a:spcBef>
                <a:spcPts val="800"/>
              </a:spcBef>
              <a:defRPr sz="1800">
                <a:solidFill>
                  <a:srgbClr val="94A3B8"/>
                </a:solidFill>
              </a:defRPr>
            </a:pPr>
            <a:r>
              <a:t>VoyageCraft: Enterprise Cloud-Native Tour &amp; Travel Microservices Platform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3474720"/>
            <a:ext cx="9966960" cy="2468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t>🔗 Project Deliverables &amp; Resources:</a:t>
            </a:r>
          </a:p>
          <a:p>
            <a:pPr>
              <a:spcBef>
                <a:spcPts val="600"/>
              </a:spcBef>
              <a:defRPr sz="1250">
                <a:solidFill>
                  <a:srgbClr val="FFFFFF"/>
                </a:solidFill>
              </a:defRPr>
            </a:pPr>
            <a:r>
              <a:t>• GitHub Repository: https://github.com/2400032408prem/voyagecraft-microservices</a:t>
            </a:r>
          </a:p>
          <a:p>
            <a:pPr>
              <a:spcBef>
                <a:spcPts val="600"/>
              </a:spcBef>
              <a:defRPr sz="1250">
                <a:solidFill>
                  <a:srgbClr val="FFFFFF"/>
                </a:solidFill>
              </a:defRPr>
            </a:pPr>
            <a:r>
              <a:t>• Master Documentation: VoyageCraft_Complete_Project_Documentation.pdf</a:t>
            </a:r>
          </a:p>
          <a:p>
            <a:pPr>
              <a:spcBef>
                <a:spcPts val="600"/>
              </a:spcBef>
              <a:defRPr sz="1250">
                <a:solidFill>
                  <a:srgbClr val="FFFFFF"/>
                </a:solidFill>
              </a:defRPr>
            </a:pPr>
            <a:r>
              <a:t>• Eureka Service Dashboard: http://localhost:8761</a:t>
            </a:r>
          </a:p>
          <a:p>
            <a:pPr>
              <a:spcBef>
                <a:spcPts val="600"/>
              </a:spcBef>
              <a:defRPr sz="1250">
                <a:solidFill>
                  <a:srgbClr val="FFFFFF"/>
                </a:solidFill>
              </a:defRPr>
            </a:pPr>
            <a:r>
              <a:t>• pgAdmin 4 Database Cluster: localhost:5432 (authdb, packagedb, paymentdb, bookingdb)</a:t>
            </a:r>
          </a:p>
          <a:p>
            <a:pPr>
              <a:spcBef>
                <a:spcPts val="600"/>
              </a:spcBef>
              <a:defRPr sz="1250">
                <a:solidFill>
                  <a:srgbClr val="FFFFFF"/>
                </a:solidFill>
              </a:defRPr>
            </a:pPr>
            <a:r>
              <a:t>• Open for Questions &amp; Live Demonstration!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